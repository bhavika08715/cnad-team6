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169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.svg"/><Relationship Id="rId3" Type="http://schemas.openxmlformats.org/officeDocument/2006/relationships/hyperlink" Target="https://svgsilh.com/03a9f4/image/98809.html" TargetMode="External"/><Relationship Id="rId4" Type="http://schemas.openxmlformats.org/officeDocument/2006/relationships/diagramData" Target="../diagrams/data1.xml"/><Relationship Id="rId5" Type="http://schemas.openxmlformats.org/officeDocument/2006/relationships/diagramLayout" Target="../diagrams/layout1.xml"/><Relationship Id="rId6" Type="http://schemas.openxmlformats.org/officeDocument/2006/relationships/diagramQuickStyle" Target="../diagrams/quickStyle1.xml"/><Relationship Id="rId7" Type="http://schemas.openxmlformats.org/officeDocument/2006/relationships/diagramColors" Target="../diagrams/colors1.xml"/><Relationship Id="rId8" Type="http://schemas.microsoft.com/office/2007/relationships/diagramDrawing" Target="../diagrams/drawing1.xml"/><Relationship Id="rId9" Type="http://schemas.openxmlformats.org/officeDocument/2006/relationships/image" Target="../media/image1.png"/><Relationship Id="rId10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Cloud-Based Food Surplus Prediction and</a:t>
            </a:r>
            <a:br/>
            <a:r>
              <a:t>Hyperlocal Redistribution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E16919"/>
                </a:solidFill>
              </a:defRPr>
            </a:pPr>
            <a:r>
              <a:t>SOA PROJECT REVIEW –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880360"/>
            <a:ext cx="72237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3769"/>
                </a:solidFill>
              </a:defRPr>
            </a:pPr>
            <a:r>
              <a:t>TEAM MEMBERS</a:t>
            </a:r>
          </a:p>
          <a:p>
            <a:pPr algn="ctr">
              <a:defRPr sz="1400"/>
            </a:pPr>
            <a:r>
              <a:t>2420030073 – Y. Bhavika</a:t>
            </a:r>
          </a:p>
          <a:p>
            <a:pPr algn="ctr">
              <a:defRPr sz="1400"/>
            </a:pPr>
            <a:r>
              <a:t>2420030038 – N. Keerthi Sri</a:t>
            </a:r>
          </a:p>
          <a:p>
            <a:pPr algn="ctr">
              <a:defRPr sz="1400"/>
            </a:pPr>
            <a:r>
              <a:t>2420030149 – Y. Adarsh Rishi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617720"/>
            <a:ext cx="79552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3769"/>
                </a:solidFill>
              </a:defRPr>
            </a:pPr>
            <a:r>
              <a:t>Under the Guidance of: P. Srilatha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3035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Cloud-Native Application Development and Container Orchestration (24CND3101)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Outline of Project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1430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Introduction and motivation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Problem statement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Research objectives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Literature survey / existing solution areas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Problem gap identification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Innovation, creativity, and novelty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Feasibility and project plan</a:t>
            </a:r>
          </a:p>
          <a:p>
            <a:pPr>
              <a:spcAft>
                <a:spcPts val="900"/>
              </a:spcAft>
              <a:defRPr sz="1800">
                <a:solidFill>
                  <a:srgbClr val="191919"/>
                </a:solidFill>
                <a:latin typeface="Aptos"/>
              </a:defRPr>
            </a:pPr>
            <a:r>
              <a:t>Conclusion and future work</a:t>
            </a:r>
          </a:p>
        </p:txBody>
      </p:sp>
      <p:pic>
        <p:nvPicPr>
          <p:cNvPr id="13" name="Picture 12" descr="project_overview_flowchar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234440"/>
            <a:ext cx="5212080" cy="34759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Food surplus is generated daily by restaurants, supermarkets, hotels, cafeterias, events, and households.</a:t>
            </a:r>
          </a:p>
          <a:p>
            <a:pPr>
              <a:spcAft>
                <a:spcPts val="9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Usable surplus is often identified too late or becomes difficult to redistribute before it becomes unusable.</a:t>
            </a:r>
          </a:p>
          <a:p>
            <a:pPr>
              <a:spcAft>
                <a:spcPts val="9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Donors and nearby beneficiaries may not be connected quickly enough, causing avoidable food waste.</a:t>
            </a:r>
          </a:p>
          <a:p>
            <a:pPr>
              <a:spcAft>
                <a:spcPts val="9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Existing processes may rely on manual coordination and may not predict where and when surplus will occur.</a:t>
            </a:r>
          </a:p>
          <a:p>
            <a:pPr>
              <a:spcAft>
                <a:spcPts val="900"/>
              </a:spcAft>
              <a:defRPr sz="2000">
                <a:solidFill>
                  <a:srgbClr val="191919"/>
                </a:solidFill>
                <a:latin typeface="Aptos"/>
              </a:defRPr>
            </a:pPr>
            <a:r>
              <a:t>A cloud-based, location-aware system is needed to predict surplus and coordinate timely hyperlocal redistribution.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143000"/>
            <a:ext cx="10424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Develop a cloud-based platform for registering and monitoring food surplus.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Use historical and real-time information to predict expected surplus quantity and timing.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Match available food with nearby verified NGOs, community kitchens, shelters, and food banks.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Consider geographic proximity, food type, quantity, urgency, receiver capacity, and pickup availability.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Provide notifications, pickup updates, and end-to-end redistribution tracking.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Provide dashboards for surplus trends, prediction results, active requests, successful redistributions, and impact metrics.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Literature Survey / Existing Solution Areas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96596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43769"/>
                </a:solidFill>
                <a:latin typeface="Aptos"/>
              </a:defRPr>
            </a:pPr>
            <a:r>
              <a:t>Area</a:t>
            </a:r>
          </a:p>
          <a:p>
            <a:pPr>
              <a:spcBef>
                <a:spcPts val="800"/>
              </a:spcBef>
              <a:defRPr sz="1000">
                <a:solidFill>
                  <a:srgbClr val="191919"/>
                </a:solidFill>
                <a:latin typeface="Aptos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2468880" y="1143000"/>
            <a:ext cx="40690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43769"/>
                </a:solidFill>
                <a:latin typeface="Aptos"/>
              </a:defRPr>
            </a:pPr>
            <a:r>
              <a:t>Existing Focus</a:t>
            </a:r>
          </a:p>
          <a:p>
            <a:pPr>
              <a:spcBef>
                <a:spcPts val="800"/>
              </a:spcBef>
              <a:defRPr sz="1000">
                <a:solidFill>
                  <a:srgbClr val="191919"/>
                </a:solidFill>
                <a:latin typeface="Aptos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537959" y="1143000"/>
            <a:ext cx="507492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143769"/>
                </a:solidFill>
                <a:latin typeface="Aptos"/>
              </a:defRPr>
            </a:pPr>
            <a:r>
              <a:t>Gap Relevant to This Project</a:t>
            </a:r>
          </a:p>
          <a:p>
            <a:pPr>
              <a:spcBef>
                <a:spcPts val="800"/>
              </a:spcBef>
              <a:defRPr sz="1000">
                <a:solidFill>
                  <a:srgbClr val="191919"/>
                </a:solidFill>
                <a:latin typeface="Aptos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02920" y="1856232"/>
            <a:ext cx="196596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237D3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Food surplus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80" y="1856232"/>
            <a:ext cx="40690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E16919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Uses historical/current data to estimate surplus quantity and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59" y="1856232"/>
            <a:ext cx="507492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5A378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Prediction needs to connect directly with redistribution.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9232"/>
            <a:ext cx="196596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237D3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Food donation platforms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2999232"/>
            <a:ext cx="40690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E16919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Register available food and connect donors with recipients.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59" y="2999232"/>
            <a:ext cx="507492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5A378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Limited emphasis on early surplus prediction and urgency.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42232"/>
            <a:ext cx="196596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237D3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Location-aware matching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4142232"/>
            <a:ext cx="40690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E16919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Uses geographic proximity to identify nearby receivers.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59" y="4142232"/>
            <a:ext cx="507492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5A378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Matching should also consider food type, quantity, capacity, and pickup availability.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285232"/>
            <a:ext cx="196596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237D3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Cloud-based coordination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80" y="5285232"/>
            <a:ext cx="406908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E16919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Centralized data and scalable access for multiple users.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59" y="5285232"/>
            <a:ext cx="5074920" cy="9875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000">
                <a:solidFill>
                  <a:srgbClr val="5A3787"/>
                </a:solidFill>
                <a:latin typeface="Aptos"/>
              </a:defRPr>
            </a:pPr>
          </a:p>
          <a:p>
            <a:pPr>
              <a:spcBef>
                <a:spcPts val="800"/>
              </a:spcBef>
              <a:defRPr sz="1200">
                <a:solidFill>
                  <a:srgbClr val="191919"/>
                </a:solidFill>
                <a:latin typeface="Aptos"/>
              </a:defRPr>
            </a:pPr>
            <a:r>
              <a:t>Needs integrated prediction, matching, notifications, and tracking services.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Problem Gap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The project combines prediction, hyperlocal matching, notifications, and tracking in one workflow.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Early prediction can help identify expected surplus before it becomes an urgent waste problem.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Hyperlocal matching is not based only on distance; it also considers food type, quantity, urgency, receiver capacity, and pickup availability.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A service-oriented architecture separates user management, surplus registration, prediction, matching, notifications, and tracking into manageable services.</a:t>
            </a:r>
          </a:p>
          <a:p>
            <a:pPr>
              <a:spcAft>
                <a:spcPts val="900"/>
              </a:spcAft>
              <a:defRPr sz="1850">
                <a:solidFill>
                  <a:srgbClr val="191919"/>
                </a:solidFill>
                <a:latin typeface="Aptos"/>
              </a:defRPr>
            </a:pPr>
            <a:r>
              <a:t>The cloud approach supports centralized data storage, scalable processing, real-time communication, and access for donors, volunteers, and recipient organizations.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Innovation, Creativity, and Novelty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237D37"/>
                </a:solidFill>
                <a:latin typeface="Aptos"/>
              </a:defRPr>
            </a:pPr>
            <a:r>
              <a:t>Predict Before Waste</a:t>
            </a:r>
          </a:p>
          <a:p>
            <a:pPr>
              <a:spcBef>
                <a:spcPts val="800"/>
              </a:spcBef>
              <a:defRPr sz="1300">
                <a:solidFill>
                  <a:srgbClr val="191919"/>
                </a:solidFill>
                <a:latin typeface="Aptos"/>
              </a:defRPr>
            </a:pPr>
            <a:r>
              <a:t>Forecast likely surplus quantity and timing using historical and real-time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32588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5A3787"/>
                </a:solidFill>
                <a:latin typeface="Aptos"/>
              </a:defRPr>
            </a:pPr>
            <a:r>
              <a:t>Hyperlocal Intelligence</a:t>
            </a:r>
          </a:p>
          <a:p>
            <a:pPr>
              <a:spcBef>
                <a:spcPts val="800"/>
              </a:spcBef>
              <a:defRPr sz="1300">
                <a:solidFill>
                  <a:srgbClr val="191919"/>
                </a:solidFill>
                <a:latin typeface="Aptos"/>
              </a:defRPr>
            </a:pPr>
            <a:r>
              <a:t>Match surplus with nearby verified receivers using multiple practical constraints.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32588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E16919"/>
                </a:solidFill>
                <a:latin typeface="Aptos"/>
              </a:defRPr>
            </a:pPr>
            <a:r>
              <a:t>Service-Oriented Design</a:t>
            </a:r>
          </a:p>
          <a:p>
            <a:pPr>
              <a:spcBef>
                <a:spcPts val="800"/>
              </a:spcBef>
              <a:defRPr sz="1300">
                <a:solidFill>
                  <a:srgbClr val="191919"/>
                </a:solidFill>
                <a:latin typeface="Aptos"/>
              </a:defRPr>
            </a:pPr>
            <a:r>
              <a:t>Separate prediction, matching, notifications, tracking, and user services.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65760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143769"/>
                </a:solidFill>
                <a:latin typeface="Aptos"/>
              </a:defRPr>
            </a:pPr>
            <a:r>
              <a:t>Real-Time Coordination</a:t>
            </a:r>
          </a:p>
          <a:p>
            <a:pPr>
              <a:spcBef>
                <a:spcPts val="800"/>
              </a:spcBef>
              <a:defRPr sz="1300">
                <a:solidFill>
                  <a:srgbClr val="191919"/>
                </a:solidFill>
                <a:latin typeface="Aptos"/>
              </a:defRPr>
            </a:pPr>
            <a:r>
              <a:t>Provide alerts, pickup updates, and status changes across the redistribution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3657600"/>
            <a:ext cx="34747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E1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BE1941"/>
                </a:solidFill>
                <a:latin typeface="Aptos"/>
              </a:defRPr>
            </a:pPr>
            <a:r>
              <a:t>Impact Analytics</a:t>
            </a:r>
          </a:p>
          <a:p>
            <a:pPr>
              <a:spcBef>
                <a:spcPts val="800"/>
              </a:spcBef>
              <a:defRPr sz="1300">
                <a:solidFill>
                  <a:srgbClr val="191919"/>
                </a:solidFill>
                <a:latin typeface="Aptos"/>
              </a:defRPr>
            </a:pPr>
            <a:r>
              <a:t>Track surplus trends, active requests, successful redistributions, and impact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3769"/>
                </a:solidFill>
                <a:latin typeface="Aptos Display"/>
              </a:defRPr>
            </a:pPr>
            <a:r>
              <a:t>Feasibility and Project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50">
                <a:solidFill>
                  <a:srgbClr val="191919"/>
                </a:solidFill>
                <a:latin typeface="Aptos"/>
              </a:defRPr>
            </a:pPr>
            <a:r>
              <a:t>Technical feasibility: React/HTML/CSS, Spring Boot/Java, Java-based ML, database services, REST APIs, Render deployment, and Leaflet + OpenStreetMap.</a:t>
            </a:r>
          </a:p>
          <a:p>
            <a:pPr>
              <a:spcAft>
                <a:spcPts val="900"/>
              </a:spcAft>
              <a:defRPr sz="1650">
                <a:solidFill>
                  <a:srgbClr val="191919"/>
                </a:solidFill>
                <a:latin typeface="Aptos"/>
              </a:defRPr>
            </a:pPr>
            <a:r>
              <a:t>Operational feasibility: supports donors, volunteers, and recipient organizations through role-based services and tracking.</a:t>
            </a:r>
          </a:p>
          <a:p>
            <a:pPr>
              <a:spcAft>
                <a:spcPts val="900"/>
              </a:spcAft>
              <a:defRPr sz="1650">
                <a:solidFill>
                  <a:srgbClr val="191919"/>
                </a:solidFill>
                <a:latin typeface="Aptos"/>
              </a:defRPr>
            </a:pPr>
            <a:r>
              <a:t>Scalability: cloud-based and service-oriented architecture can support centralized storage and scalable processing.</a:t>
            </a:r>
          </a:p>
          <a:p>
            <a:pPr>
              <a:spcAft>
                <a:spcPts val="900"/>
              </a:spcAft>
              <a:defRPr sz="1650">
                <a:solidFill>
                  <a:srgbClr val="191919"/>
                </a:solidFill>
                <a:latin typeface="Aptos"/>
              </a:defRPr>
            </a:pPr>
            <a:r>
              <a:t>Expected outcome: faster redistribution, reduced avoidable food waste, improved transparency, and stronger coordination.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37D37"/>
                </a:solidFill>
              </a:defRPr>
            </a:pPr>
            <a:r>
              <a:t>1. Requirements</a:t>
            </a:r>
          </a:p>
          <a:p>
            <a:pPr algn="ctr">
              <a:defRPr sz="1050"/>
            </a:pPr>
            <a:r>
              <a:t>Problem + users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956816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75688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3769"/>
                </a:solidFill>
              </a:defRPr>
            </a:pPr>
            <a:r>
              <a:t>2. Data</a:t>
            </a:r>
          </a:p>
          <a:p>
            <a:pPr algn="ctr">
              <a:defRPr sz="1050"/>
            </a:pPr>
            <a:r>
              <a:t>Collect &amp; prepare data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621024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39896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6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E16919"/>
                </a:solidFill>
              </a:defRPr>
            </a:pPr>
            <a:r>
              <a:t>3. Prediction</a:t>
            </a:r>
          </a:p>
          <a:p>
            <a:pPr algn="ctr">
              <a:defRPr sz="1050"/>
            </a:pPr>
            <a:r>
              <a:t>Java ML model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85231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04104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A3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5A3787"/>
                </a:solidFill>
              </a:defRPr>
            </a:pPr>
            <a:r>
              <a:t>4. Services</a:t>
            </a:r>
          </a:p>
          <a:p>
            <a:pPr algn="ctr">
              <a:defRPr sz="1050"/>
            </a:pPr>
            <a:r>
              <a:t>Backend + APIs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949440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068312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E1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BE1941"/>
                </a:solidFill>
              </a:defRPr>
            </a:pPr>
            <a:r>
              <a:t>5. UI &amp; Matching</a:t>
            </a:r>
          </a:p>
          <a:p>
            <a:pPr algn="ctr">
              <a:defRPr sz="1050"/>
            </a:pPr>
            <a:r>
              <a:t>Map + redistribution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13648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32519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143769"/>
                </a:solidFill>
              </a:defRPr>
            </a:pPr>
            <a:r>
              <a:t>6. Testing</a:t>
            </a:r>
          </a:p>
          <a:p>
            <a:pPr algn="ctr">
              <a:defRPr sz="1050"/>
            </a:pPr>
            <a:r>
              <a:t>Integration + evaluation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277856" y="4224528"/>
            <a:ext cx="164592" cy="320040"/>
          </a:xfrm>
          <a:prstGeom prst="rightArrow">
            <a:avLst/>
          </a:prstGeom>
          <a:solidFill>
            <a:srgbClr val="143769"/>
          </a:solidFill>
          <a:ln>
            <a:solidFill>
              <a:srgbClr val="143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396728" y="3703320"/>
            <a:ext cx="15727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237D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37D37"/>
                </a:solidFill>
              </a:defRPr>
            </a:pPr>
            <a:r>
              <a:t>7. Deployment</a:t>
            </a:r>
          </a:p>
          <a:p>
            <a:pPr algn="ctr">
              <a:defRPr sz="1050"/>
            </a:pPr>
            <a:r>
              <a:t>Render + final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143769"/>
                </a:solidFill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204</Words>
  <Application>Microsoft Office PowerPoint</Application>
  <PresentationFormat>Widescreen</PresentationFormat>
  <Paragraphs>61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vinaya sree</cp:lastModifiedBy>
  <cp:revision>32</cp:revision>
  <dcterms:created xsi:type="dcterms:W3CDTF">2026-08-08T06:33:56Z</dcterms:created>
  <dcterms:modified xsi:type="dcterms:W3CDTF">2026-08-19T03:02:47Z</dcterms:modified>
</cp:coreProperties>
</file>