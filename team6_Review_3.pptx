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Cloud-Based Food Surplus Prediction and Hyperlocal Redistribution Network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B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CNAD PROJECT REVIEW – 3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38328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2420030073 – Y. Bhavika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2420030038 – N. Keerthi Sri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2420030149 – Y. Adarsh Rishi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846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of: V. Vinisha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Application Development and Container Orchestration (24CND3101)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Outline of Review 3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" cy="548640"/>
          </a:xfrm>
          <a:prstGeom prst="ellipse">
            <a:avLst/>
          </a:prstGeom>
          <a:solidFill>
            <a:srgbClr val="1F3A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71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objectives and literature gap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48640" cy="548640"/>
          </a:xfrm>
          <a:prstGeom prst="ellipse">
            <a:avLst/>
          </a:prstGeom>
          <a:solidFill>
            <a:srgbClr val="F26B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179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1371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and proposed solution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548640" cy="548640"/>
          </a:xfrm>
          <a:prstGeom prst="ellipse">
            <a:avLst/>
          </a:prstGeom>
          <a:solidFill>
            <a:srgbClr val="1F3A6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560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feedback and actions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2560320"/>
            <a:ext cx="548640" cy="548640"/>
          </a:xfrm>
          <a:prstGeom prst="ellipse">
            <a:avLst/>
          </a:prstGeom>
          <a:solidFill>
            <a:srgbClr val="F26B2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2560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and microservices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548640" cy="548640"/>
          </a:xfrm>
          <a:prstGeom prst="ellipse">
            <a:avLst/>
          </a:prstGeom>
          <a:solidFill>
            <a:srgbClr val="1F3A6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749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progress and technology stack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217920" y="3749040"/>
            <a:ext cx="548640" cy="548640"/>
          </a:xfrm>
          <a:prstGeom prst="ellipse">
            <a:avLst/>
          </a:prstGeom>
          <a:solidFill>
            <a:srgbClr val="F26B2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1792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3749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Challenges, solutions and prototype results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4937760"/>
            <a:ext cx="548640" cy="548640"/>
          </a:xfrm>
          <a:prstGeom prst="ellipse">
            <a:avLst/>
          </a:prstGeom>
          <a:solidFill>
            <a:srgbClr val="1F3A6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4937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4937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Feasibility, timeline and next milestones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217920" y="4937760"/>
            <a:ext cx="548640" cy="548640"/>
          </a:xfrm>
          <a:prstGeom prst="ellipse">
            <a:avLst/>
          </a:prstGeom>
          <a:solidFill>
            <a:srgbClr val="F26B2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17920" y="4937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4937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 and conclusion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EEF3FA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801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2801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surplus is generated daily by restaurants, supermarkets, hotels, cafeterias, events, and households.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EEF3FA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24028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240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surplus is often identified too late or becomes difficult to redistribute before it becomes unusable.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EEF3FA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20040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and nearby beneficiaries may not be connected quickly enough, causing avoidable food waste.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EEF3FA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16052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160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processes may rely on manual coordination and may not predict where and when surplus will occur.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512064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B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5120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cloud-based, location-aware system is needed to predict surplus and coordinate timely hyperlocal redistribution.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Objectives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505200" cy="2103120"/>
          </a:xfrm>
          <a:prstGeom prst="roundRect">
            <a:avLst>
              <a:gd name="adj" fmla="val 5217"/>
            </a:avLst>
          </a:prstGeom>
          <a:solidFill>
            <a:srgbClr val="EEF3FA"/>
          </a:solidFill>
          <a:ln w="15875">
            <a:solidFill>
              <a:srgbClr val="1F3A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313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65960"/>
            <a:ext cx="313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cloud-based platform for registering and monitoring food surplus.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8160" y="1280160"/>
            <a:ext cx="3505200" cy="2103120"/>
          </a:xfrm>
          <a:prstGeom prst="roundRect">
            <a:avLst>
              <a:gd name="adj" fmla="val 5217"/>
            </a:avLst>
          </a:prstGeom>
          <a:solidFill>
            <a:srgbClr val="EEF3FA"/>
          </a:solidFill>
          <a:ln w="15875">
            <a:solidFill>
              <a:srgbClr val="F26B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11040" y="1417320"/>
            <a:ext cx="313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11040" y="1965960"/>
            <a:ext cx="313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historical and real-time information to predict expected surplus quantity and timing.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07680" y="1280160"/>
            <a:ext cx="3505200" cy="2103120"/>
          </a:xfrm>
          <a:prstGeom prst="roundRect">
            <a:avLst>
              <a:gd name="adj" fmla="val 5217"/>
            </a:avLst>
          </a:prstGeom>
          <a:solidFill>
            <a:srgbClr val="EEF3FA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90560" y="1417320"/>
            <a:ext cx="313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Matching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90560" y="1965960"/>
            <a:ext cx="313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available food with nearby verified NGOs, community kitchens, shelters, and food banks.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3505200" cy="2103120"/>
          </a:xfrm>
          <a:prstGeom prst="roundRect">
            <a:avLst>
              <a:gd name="adj" fmla="val 5217"/>
            </a:avLst>
          </a:prstGeom>
          <a:solidFill>
            <a:srgbClr val="EEF3FA"/>
          </a:solidFill>
          <a:ln w="15875">
            <a:solidFill>
              <a:srgbClr val="7B3F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794760"/>
            <a:ext cx="313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Factors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343400"/>
            <a:ext cx="313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proximity, food type, quantity, urgency, receiver capacity, and pickup availability.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28160" y="3657600"/>
            <a:ext cx="3505200" cy="2103120"/>
          </a:xfrm>
          <a:prstGeom prst="roundRect">
            <a:avLst>
              <a:gd name="adj" fmla="val 5217"/>
            </a:avLst>
          </a:prstGeom>
          <a:solidFill>
            <a:srgbClr val="EEF3FA"/>
          </a:solidFill>
          <a:ln w="15875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11040" y="3794760"/>
            <a:ext cx="313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&amp; Tracking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511040" y="4343400"/>
            <a:ext cx="313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notifications, pickup updates, and end-to-end redistribution tracking.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07680" y="3657600"/>
            <a:ext cx="3505200" cy="2103120"/>
          </a:xfrm>
          <a:prstGeom prst="roundRect">
            <a:avLst>
              <a:gd name="adj" fmla="val 5217"/>
            </a:avLst>
          </a:prstGeom>
          <a:solidFill>
            <a:srgbClr val="EEF3FA"/>
          </a:solidFill>
          <a:ln w="15875">
            <a:solidFill>
              <a:srgbClr val="C218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90560" y="3794760"/>
            <a:ext cx="313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290560" y="4343400"/>
            <a:ext cx="313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surplus trends, prediction results, active requests, successful redistributions, and impact metrics.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 / Existing Solution Areas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023360"/>
                <a:gridCol w="43891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Relevant to This Project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 surplus prediction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historical/current data to estimate surplus quantity and timing.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 needs to connect directly with redistribution.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 donation platforms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available food and connect donors with recipients.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emphasis on early surplus prediction and urgency.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Location-aware matching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geographic proximity to identify nearby receivers.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Matching should also consider food type, quantity, capacity, and pickup availability.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Cloud-based coordination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Centralized data and scalable access for multiple users.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integrated prediction, matching, notifications, and tracking services.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Gap Identification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505200" cy="219456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15875">
            <a:solidFill>
              <a:srgbClr val="1F3A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313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Workflow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65960"/>
            <a:ext cx="313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prediction, hyperlocal matching, notifications, and tracking.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8160" y="1280160"/>
            <a:ext cx="3505200" cy="219456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15875">
            <a:solidFill>
              <a:srgbClr val="F26B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11040" y="1417320"/>
            <a:ext cx="313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Prediction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11040" y="1965960"/>
            <a:ext cx="313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expected surplus before it becomes an urgent waste problem.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07680" y="1280160"/>
            <a:ext cx="3505200" cy="219456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90560" y="1417320"/>
            <a:ext cx="313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Distance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90560" y="1965960"/>
            <a:ext cx="313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also considers food type, quantity, urgency, receiver capacity, and pickup availability.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3505200" cy="219456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15875">
            <a:solidFill>
              <a:srgbClr val="7B3F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886200"/>
            <a:ext cx="313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Service-Oriented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434840"/>
            <a:ext cx="313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services for users, surplus registration, prediction, matching, notifications, and tracking.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28160" y="3749040"/>
            <a:ext cx="3505200" cy="219456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15875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11040" y="3886200"/>
            <a:ext cx="313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Approach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511040" y="4434840"/>
            <a:ext cx="313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storage, scalable processing, and real-time communication for donors, volunteers, and recipients.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Innovation, Creativity, and Novelty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505200" cy="219456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15875">
            <a:solidFill>
              <a:srgbClr val="1F3A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313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Before Waste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65960"/>
            <a:ext cx="313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likely surplus quantity and timing using historical and real-time information.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8160" y="1280160"/>
            <a:ext cx="3505200" cy="219456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15875">
            <a:solidFill>
              <a:srgbClr val="F26B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11040" y="1417320"/>
            <a:ext cx="313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Hyperlocal Intelligence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11040" y="1965960"/>
            <a:ext cx="313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surplus with nearby verified receivers using multiple practical constraints.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07680" y="1280160"/>
            <a:ext cx="3505200" cy="219456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90560" y="1417320"/>
            <a:ext cx="313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Service-Oriented Design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90560" y="1965960"/>
            <a:ext cx="313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prediction, matching, notifications, tracking, and user services.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3505200" cy="219456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15875">
            <a:solidFill>
              <a:srgbClr val="7B3F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886200"/>
            <a:ext cx="313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Coordination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434840"/>
            <a:ext cx="313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Alerts, pickup updates, and status changes across the redistribution process.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28160" y="3749040"/>
            <a:ext cx="3505200" cy="219456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15875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11040" y="3886200"/>
            <a:ext cx="313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Analytics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511040" y="4434840"/>
            <a:ext cx="313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surplus trends, active requests, successful redistributions, and impact metrics.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 Workflow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pic>
        <p:nvPicPr>
          <p:cNvPr id="4" name="Image 0" descr="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863840" cy="519065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95360" y="1280160"/>
            <a:ext cx="3108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2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food type, quantity, preparation/expiry time, demand patterns, day of week, location, previous surplus records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module estimates expected surplus quantity and timing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and matching with verified NGOs, kitchens, shelters, food banks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Service-oriented architecture keeps each function manageable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1 &amp; 2 Summary and Key Feedback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474720" cy="4206240"/>
          </a:xfrm>
          <a:prstGeom prst="roundRect">
            <a:avLst>
              <a:gd name="adj" fmla="val 3158"/>
            </a:avLst>
          </a:prstGeom>
          <a:solidFill>
            <a:srgbClr val="EEF3FA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problem statement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research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Well-defined objectives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43400" y="1371600"/>
            <a:ext cx="3474720" cy="4206240"/>
          </a:xfrm>
          <a:prstGeom prst="roundRect">
            <a:avLst>
              <a:gd name="adj" fmla="val 3158"/>
            </a:avLst>
          </a:prstGeom>
          <a:solidFill>
            <a:srgbClr val="EEF3FA"/>
          </a:solidFill>
          <a:ln w="19050">
            <a:solidFill>
              <a:srgbClr val="F26B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554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19456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microservices implementation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Emphasize cloud scalability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security considerations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38160" y="1371600"/>
            <a:ext cx="3474720" cy="4206240"/>
          </a:xfrm>
          <a:prstGeom prst="roundRect">
            <a:avLst>
              <a:gd name="adj" fmla="val 3158"/>
            </a:avLst>
          </a:prstGeom>
          <a:solidFill>
            <a:srgbClr val="EEF3FA"/>
          </a:solidFill>
          <a:ln w="19050">
            <a:solidFill>
              <a:srgbClr val="1F3A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66760" y="1554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Taken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19456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service architecture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backend development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UI mockups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Microservices Design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60320" cy="1280160"/>
          </a:xfrm>
          <a:prstGeom prst="roundRect">
            <a:avLst>
              <a:gd name="adj" fmla="val 10714"/>
            </a:avLst>
          </a:prstGeom>
          <a:solidFill>
            <a:srgbClr val="1F3A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Service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383280" y="1554480"/>
            <a:ext cx="2560320" cy="1280160"/>
          </a:xfrm>
          <a:prstGeom prst="roundRect">
            <a:avLst>
              <a:gd name="adj" fmla="val 10714"/>
            </a:avLst>
          </a:prstGeom>
          <a:solidFill>
            <a:srgbClr val="F26B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383280" y="15544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Registration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2560320" cy="1280160"/>
          </a:xfrm>
          <a:prstGeom prst="roundRect">
            <a:avLst>
              <a:gd name="adj" fmla="val 10714"/>
            </a:avLst>
          </a:prstGeom>
          <a:solidFill>
            <a:srgbClr val="2E8B5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17920" y="15544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Engine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052560" y="1554480"/>
            <a:ext cx="2560320" cy="1280160"/>
          </a:xfrm>
          <a:prstGeom prst="roundRect">
            <a:avLst>
              <a:gd name="adj" fmla="val 10714"/>
            </a:avLst>
          </a:prstGeom>
          <a:solidFill>
            <a:srgbClr val="7B3FA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052560" y="15544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&amp; Allocation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2560320" cy="1280160"/>
          </a:xfrm>
          <a:prstGeom prst="roundRect">
            <a:avLst>
              <a:gd name="adj" fmla="val 10714"/>
            </a:avLst>
          </a:prstGeom>
          <a:solidFill>
            <a:srgbClr val="0E7C8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2918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Service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383280" y="3291840"/>
            <a:ext cx="2560320" cy="1280160"/>
          </a:xfrm>
          <a:prstGeom prst="roundRect">
            <a:avLst>
              <a:gd name="adj" fmla="val 10714"/>
            </a:avLst>
          </a:prstGeom>
          <a:solidFill>
            <a:srgbClr val="C2185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383280" y="32918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Service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17920" y="3291840"/>
            <a:ext cx="2560320" cy="1280160"/>
          </a:xfrm>
          <a:prstGeom prst="roundRect">
            <a:avLst>
              <a:gd name="adj" fmla="val 10714"/>
            </a:avLst>
          </a:prstGeom>
          <a:solidFill>
            <a:srgbClr val="1F3A6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0" y="32918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052560" y="3291840"/>
            <a:ext cx="2560320" cy="1280160"/>
          </a:xfrm>
          <a:prstGeom prst="roundRect">
            <a:avLst>
              <a:gd name="adj" fmla="val 10714"/>
            </a:avLst>
          </a:prstGeom>
          <a:solidFill>
            <a:srgbClr val="F26B2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052560" y="32918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(AWS S3)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communicate through REST APIs, with an API gateway and security layer in front.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Progress Status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Services (Java/Spring Boot)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480560" y="1444752"/>
            <a:ext cx="6035040" cy="320040"/>
          </a:xfrm>
          <a:prstGeom prst="roundRect">
            <a:avLst>
              <a:gd name="adj" fmla="val 14286"/>
            </a:avLst>
          </a:prstGeom>
          <a:solidFill>
            <a:srgbClr val="DDE5F0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0560" y="1444752"/>
            <a:ext cx="4224528" cy="320040"/>
          </a:xfrm>
          <a:prstGeom prst="roundRect">
            <a:avLst>
              <a:gd name="adj" fmla="val 14286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698480" y="1371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103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UI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80560" y="2176272"/>
            <a:ext cx="6035040" cy="320040"/>
          </a:xfrm>
          <a:prstGeom prst="roundRect">
            <a:avLst>
              <a:gd name="adj" fmla="val 14286"/>
            </a:avLst>
          </a:prstGeom>
          <a:solidFill>
            <a:srgbClr val="DDE5F0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176272"/>
            <a:ext cx="3319272" cy="320040"/>
          </a:xfrm>
          <a:prstGeom prst="roundRect">
            <a:avLst>
              <a:gd name="adj" fmla="val 14286"/>
            </a:avLst>
          </a:prstGeom>
          <a:solidFill>
            <a:srgbClr val="F26B2A"/>
          </a:solidFill>
          <a:ln w="12700">
            <a:solidFill>
              <a:srgbClr val="F26B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98480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834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ML Model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80560" y="2907792"/>
            <a:ext cx="6035040" cy="320040"/>
          </a:xfrm>
          <a:prstGeom prst="roundRect">
            <a:avLst>
              <a:gd name="adj" fmla="val 14286"/>
            </a:avLst>
          </a:prstGeom>
          <a:solidFill>
            <a:srgbClr val="DDE5F0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2907792"/>
            <a:ext cx="3621024" cy="320040"/>
          </a:xfrm>
          <a:prstGeom prst="roundRect">
            <a:avLst>
              <a:gd name="adj" fmla="val 14286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698480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566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&amp; Integration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80560" y="3639312"/>
            <a:ext cx="6035040" cy="320040"/>
          </a:xfrm>
          <a:prstGeom prst="roundRect">
            <a:avLst>
              <a:gd name="adj" fmla="val 14286"/>
            </a:avLst>
          </a:prstGeom>
          <a:solidFill>
            <a:srgbClr val="DDE5F0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0560" y="3639312"/>
            <a:ext cx="4828032" cy="320040"/>
          </a:xfrm>
          <a:prstGeom prst="roundRect">
            <a:avLst>
              <a:gd name="adj" fmla="val 14286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698480" y="3566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2976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&amp; Security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80560" y="4370832"/>
            <a:ext cx="6035040" cy="320040"/>
          </a:xfrm>
          <a:prstGeom prst="roundRect">
            <a:avLst>
              <a:gd name="adj" fmla="val 14286"/>
            </a:avLst>
          </a:prstGeom>
          <a:solidFill>
            <a:srgbClr val="DDE5F0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4370832"/>
            <a:ext cx="2715768" cy="320040"/>
          </a:xfrm>
          <a:prstGeom prst="roundRect">
            <a:avLst>
              <a:gd name="adj" fmla="val 14286"/>
            </a:avLst>
          </a:prstGeom>
          <a:solidFill>
            <a:srgbClr val="F26B2A"/>
          </a:solidFill>
          <a:ln w="12700">
            <a:solidFill>
              <a:srgbClr val="F26B2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698480" y="4297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0292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Setup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80560" y="5102352"/>
            <a:ext cx="6035040" cy="320040"/>
          </a:xfrm>
          <a:prstGeom prst="roundRect">
            <a:avLst>
              <a:gd name="adj" fmla="val 14286"/>
            </a:avLst>
          </a:prstGeom>
          <a:solidFill>
            <a:srgbClr val="DDE5F0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5102352"/>
            <a:ext cx="2414016" cy="320040"/>
          </a:xfrm>
          <a:prstGeom prst="roundRect">
            <a:avLst>
              <a:gd name="adj" fmla="val 14286"/>
            </a:avLst>
          </a:prstGeom>
          <a:solidFill>
            <a:srgbClr val="F26B2A"/>
          </a:solidFill>
          <a:ln w="12700">
            <a:solidFill>
              <a:srgbClr val="F26B2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698480" y="5029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&amp; Integration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React, HTML/CSS, Leaflet Maps, OpenStreetMap API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6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Boot, Java, RESTful APIs, Microservices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ML/Prediction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ML libraries, Time-series forecasting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PostgreSQL, Caching Layer (Redis)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Cloud/Deployment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Render, AWS S3, Docker containers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18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Git, Maven, Postman, JUnit Testing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Encountered &amp; Solutions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120640" cy="1005840"/>
          </a:xfrm>
          <a:prstGeom prst="roundRect">
            <a:avLst>
              <a:gd name="adj" fmla="val 9091"/>
            </a:avLst>
          </a:prstGeom>
          <a:solidFill>
            <a:srgbClr val="FDECEA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2801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accuracy with limited historical data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1280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0" y="1280160"/>
            <a:ext cx="5212080" cy="1005840"/>
          </a:xfrm>
          <a:prstGeom prst="roundRect">
            <a:avLst>
              <a:gd name="adj" fmla="val 9091"/>
            </a:avLst>
          </a:prstGeom>
          <a:solidFill>
            <a:srgbClr val="E6F4EC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29400" y="12801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and ensemble methods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5120640" cy="1005840"/>
          </a:xfrm>
          <a:prstGeom prst="roundRect">
            <a:avLst>
              <a:gd name="adj" fmla="val 9091"/>
            </a:avLst>
          </a:prstGeom>
          <a:solidFill>
            <a:srgbClr val="FDECEA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5146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location tracking complexity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251460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6400800" y="2514600"/>
            <a:ext cx="5212080" cy="1005840"/>
          </a:xfrm>
          <a:prstGeom prst="roundRect">
            <a:avLst>
              <a:gd name="adj" fmla="val 9091"/>
            </a:avLst>
          </a:prstGeom>
          <a:solidFill>
            <a:srgbClr val="E6F4EC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29400" y="25146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integrated with batch geocoding APIs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120640" cy="1005840"/>
          </a:xfrm>
          <a:prstGeom prst="roundRect">
            <a:avLst>
              <a:gd name="adj" fmla="val 9091"/>
            </a:avLst>
          </a:prstGeom>
          <a:solidFill>
            <a:srgbClr val="FDECEA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7490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communication latency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760720" y="374904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6400800" y="3749040"/>
            <a:ext cx="5212080" cy="1005840"/>
          </a:xfrm>
          <a:prstGeom prst="roundRect">
            <a:avLst>
              <a:gd name="adj" fmla="val 9091"/>
            </a:avLst>
          </a:prstGeom>
          <a:solidFill>
            <a:srgbClr val="E6F4EC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29400" y="37490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caching and message queues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5120640" cy="1005840"/>
          </a:xfrm>
          <a:prstGeom prst="roundRect">
            <a:avLst>
              <a:gd name="adj" fmla="val 9091"/>
            </a:avLst>
          </a:prstGeom>
          <a:solidFill>
            <a:srgbClr val="FDECEA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9834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consistency across services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760720" y="498348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6400800" y="4983480"/>
            <a:ext cx="5212080" cy="1005840"/>
          </a:xfrm>
          <a:prstGeom prst="roundRect">
            <a:avLst>
              <a:gd name="adj" fmla="val 9091"/>
            </a:avLst>
          </a:prstGeom>
          <a:solidFill>
            <a:srgbClr val="E6F4EC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9834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architecture with database transactions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&amp; Prototype Results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EEF3FA"/>
          </a:solidFill>
          <a:ln w="19050">
            <a:solidFill>
              <a:srgbClr val="1F3A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2240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Donor &amp; recipient sign-up completed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Role-based access control implemented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Form validation working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137160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EEF3FA"/>
          </a:solidFill>
          <a:ln w="19050">
            <a:solidFill>
              <a:srgbClr val="F26B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1554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Registration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286000"/>
            <a:ext cx="2240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Image upload to S3 functional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EEF3FA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1554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Integration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286000"/>
            <a:ext cx="2240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Leaflet maps displaying donors/recipients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Real-time location filtering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52560" y="137160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EEF3FA"/>
          </a:solidFill>
          <a:ln w="19050">
            <a:solidFill>
              <a:srgbClr val="7B3F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5440" y="1554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Engine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2286000"/>
            <a:ext cx="2240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Basic ML model achieving 65% accuracy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Prediction API endpoint working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Project Plan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EF3FA"/>
          </a:solidFill>
          <a:ln w="15875">
            <a:solidFill>
              <a:srgbClr val="1F3A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6596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React/HTML/CSS, Spring Boot/Java, Java-based ML, database services, REST APIs, Render, Leaflet + OpenStreetMap.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128016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EF3FA"/>
          </a:solidFill>
          <a:ln w="15875">
            <a:solidFill>
              <a:srgbClr val="F26B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1417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196596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donors, volunteers, and recipient organizations through role-based services and tracking.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EF3FA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1417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196596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Cloud-based, service-oriented architecture supports centralized storage and scalable processing.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52560" y="128016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EF3FA"/>
          </a:solidFill>
          <a:ln w="15875">
            <a:solidFill>
              <a:srgbClr val="7B3F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5440" y="1417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196596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redistribution, reduced food waste, improved transparency, stronger coordination.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554480" cy="914400"/>
          </a:xfrm>
          <a:prstGeom prst="chevron">
            <a:avLst/>
          </a:prstGeom>
          <a:solidFill>
            <a:srgbClr val="1F3A6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48056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48840" y="4480560"/>
            <a:ext cx="1554480" cy="914400"/>
          </a:xfrm>
          <a:prstGeom prst="chevron">
            <a:avLst/>
          </a:prstGeom>
          <a:solidFill>
            <a:srgbClr val="F26B2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423160" y="448056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749040" y="4480560"/>
            <a:ext cx="1554480" cy="914400"/>
          </a:xfrm>
          <a:prstGeom prst="chevron">
            <a:avLst/>
          </a:prstGeom>
          <a:solidFill>
            <a:srgbClr val="2E8B5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023360" y="448056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49240" y="4480560"/>
            <a:ext cx="1554480" cy="914400"/>
          </a:xfrm>
          <a:prstGeom prst="chevron">
            <a:avLst/>
          </a:prstGeom>
          <a:solidFill>
            <a:srgbClr val="7B3FA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623560" y="448056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49440" y="4480560"/>
            <a:ext cx="1554480" cy="914400"/>
          </a:xfrm>
          <a:prstGeom prst="chevron">
            <a:avLst/>
          </a:prstGeom>
          <a:solidFill>
            <a:srgbClr val="0E7C8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223760" y="448056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&amp; Matching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49640" y="4480560"/>
            <a:ext cx="1554480" cy="914400"/>
          </a:xfrm>
          <a:prstGeom prst="chevron">
            <a:avLst/>
          </a:prstGeom>
          <a:solidFill>
            <a:srgbClr val="C2185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823960" y="448056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149840" y="4480560"/>
            <a:ext cx="1554480" cy="914400"/>
          </a:xfrm>
          <a:prstGeom prst="chevron">
            <a:avLst/>
          </a:prstGeom>
          <a:solidFill>
            <a:srgbClr val="1F3A6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424160" y="448056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&amp; Next Milestones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731520" cy="731520"/>
          </a:xfrm>
          <a:prstGeom prst="ellipse">
            <a:avLst/>
          </a:prstGeom>
          <a:solidFill>
            <a:srgbClr val="F26B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EEF3FA"/>
          </a:solidFill>
          <a:ln w="15875">
            <a:solidFill>
              <a:srgbClr val="1F3A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606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1-2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2004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frontend UI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payment system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74720" y="1463040"/>
            <a:ext cx="731520" cy="731520"/>
          </a:xfrm>
          <a:prstGeom prst="ellipse">
            <a:avLst/>
          </a:prstGeom>
          <a:solidFill>
            <a:srgbClr val="F26B2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7472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383280" y="246888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EEF3FA"/>
          </a:solidFill>
          <a:ln w="15875">
            <a:solidFill>
              <a:srgbClr val="1F3A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6160" y="2606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3-4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2004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service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matching algorithm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09360" y="1463040"/>
            <a:ext cx="731520" cy="731520"/>
          </a:xfrm>
          <a:prstGeom prst="ellipse">
            <a:avLst/>
          </a:prstGeom>
          <a:solidFill>
            <a:srgbClr val="F26B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217920" y="246888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EEF3FA"/>
          </a:solidFill>
          <a:ln w="15875">
            <a:solidFill>
              <a:srgbClr val="1F3A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2606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5-6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2004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optimization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144000" y="1463040"/>
            <a:ext cx="731520" cy="731520"/>
          </a:xfrm>
          <a:prstGeom prst="ellipse">
            <a:avLst/>
          </a:prstGeom>
          <a:solidFill>
            <a:srgbClr val="F26B2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052560" y="246888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EEF3FA"/>
          </a:solidFill>
          <a:ln w="15875">
            <a:solidFill>
              <a:srgbClr val="1F3A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35440" y="2606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7-8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235440" y="32004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demo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Impact &amp; Conclusion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057400" cy="2651760"/>
          </a:xfrm>
          <a:prstGeom prst="roundRect">
            <a:avLst>
              <a:gd name="adj" fmla="val 5333"/>
            </a:avLst>
          </a:prstGeom>
          <a:solidFill>
            <a:srgbClr val="EEF3FA"/>
          </a:solidFill>
          <a:ln w="15875">
            <a:solidFill>
              <a:srgbClr val="1F3A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Redistribution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6596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time between listing and pickup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88920" y="1280160"/>
            <a:ext cx="2057400" cy="2651760"/>
          </a:xfrm>
          <a:prstGeom prst="roundRect">
            <a:avLst>
              <a:gd name="adj" fmla="val 5333"/>
            </a:avLst>
          </a:prstGeom>
          <a:solidFill>
            <a:srgbClr val="EEF3FA"/>
          </a:solidFill>
          <a:ln w="15875">
            <a:solidFill>
              <a:srgbClr val="F26B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71800" y="1417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Visibility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971800" y="196596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into surplus trends and demand patterns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0" y="1280160"/>
            <a:ext cx="2057400" cy="2651760"/>
          </a:xfrm>
          <a:prstGeom prst="roundRect">
            <a:avLst>
              <a:gd name="adj" fmla="val 5333"/>
            </a:avLst>
          </a:prstGeom>
          <a:solidFill>
            <a:srgbClr val="EEF3FA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12080" y="1417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Food Waste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196596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Minimizes avoidable food going to waste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269480" y="1280160"/>
            <a:ext cx="2057400" cy="2651760"/>
          </a:xfrm>
          <a:prstGeom prst="roundRect">
            <a:avLst>
              <a:gd name="adj" fmla="val 5333"/>
            </a:avLst>
          </a:prstGeom>
          <a:solidFill>
            <a:srgbClr val="EEF3FA"/>
          </a:solidFill>
          <a:ln w="15875">
            <a:solidFill>
              <a:srgbClr val="7B3F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52360" y="1417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Coordination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196596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link between donors and local recipients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509760" y="1280160"/>
            <a:ext cx="2057400" cy="2651760"/>
          </a:xfrm>
          <a:prstGeom prst="roundRect">
            <a:avLst>
              <a:gd name="adj" fmla="val 5333"/>
            </a:avLst>
          </a:prstGeom>
          <a:solidFill>
            <a:srgbClr val="EEF3FA"/>
          </a:solidFill>
          <a:ln w="15875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92640" y="1417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Community Impact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692640" y="196596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communities, NGOs, shelters, and those in need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11064240" cy="1645920"/>
          </a:xfrm>
          <a:prstGeom prst="roundRect">
            <a:avLst>
              <a:gd name="adj" fmla="val 6667"/>
            </a:avLst>
          </a:prstGeom>
          <a:solidFill>
            <a:srgbClr val="1F3A6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3434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B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Prediction, hyperlocal matching, notifications, and tracking come together in one cloud-native workflow. Next: finish the UI, notification service, advanced matching, security audit, and deployment.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3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377440"/>
            <a:ext cx="12188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0" y="384048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B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CNAD Project Review 3</dc:title>
  <dc:subject>PptxGenJS Presentation</dc:subject>
  <dc:creator>PptxGenJS</dc:creator>
  <cp:lastModifiedBy>PptxGenJS</cp:lastModifiedBy>
  <cp:revision>1</cp:revision>
  <dcterms:created xsi:type="dcterms:W3CDTF">2026-10-27T13:09:31Z</dcterms:created>
  <dcterms:modified xsi:type="dcterms:W3CDTF">2026-10-27T13:09:31Z</dcterms:modified>
</cp:coreProperties>
</file>